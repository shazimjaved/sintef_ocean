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qONpNoI11CZ1KEGEBQQSr876X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640A5F-3B72-4ABE-8EE0-FE8479D153CE}">
  <a:tblStyle styleId="{7C640A5F-3B72-4ABE-8EE0-FE8479D153C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Play-bold.fntdata"/><Relationship Id="rId10" Type="http://schemas.openxmlformats.org/officeDocument/2006/relationships/slide" Target="slides/slide4.xml"/><Relationship Id="rId21" Type="http://schemas.openxmlformats.org/officeDocument/2006/relationships/font" Target="fonts/Play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erial top view container ship" id="96" name="Google Shape;96;p1"/>
          <p:cNvPicPr preferRelativeResize="0"/>
          <p:nvPr/>
        </p:nvPicPr>
        <p:blipFill rotWithShape="1">
          <a:blip r:embed="rId3">
            <a:alphaModFix amt="45000"/>
          </a:blip>
          <a:srcRect b="0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>
            <p:ph type="ctrTitle"/>
          </p:nvPr>
        </p:nvSpPr>
        <p:spPr>
          <a:xfrm>
            <a:off x="1769532" y="2091263"/>
            <a:ext cx="8652938" cy="24615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lang="en-US"/>
              <a:t>REAL VESSEL DATA Challenge</a:t>
            </a:r>
            <a:endParaRPr/>
          </a:p>
        </p:txBody>
      </p:sp>
      <p:sp>
        <p:nvSpPr>
          <p:cNvPr id="98" name="Google Shape;98;p1"/>
          <p:cNvSpPr txBox="1"/>
          <p:nvPr>
            <p:ph idx="1" type="subTitle"/>
          </p:nvPr>
        </p:nvSpPr>
        <p:spPr>
          <a:xfrm>
            <a:off x="1769532" y="4623127"/>
            <a:ext cx="86552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solidFill>
                  <a:schemeClr val="lt1"/>
                </a:solidFill>
              </a:rPr>
              <a:t>A first of a kind Workshop on Modelling, Insights and Actionable Outcome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AIMS</a:t>
            </a:r>
            <a:endParaRPr/>
          </a:p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2214282" y="1520825"/>
            <a:ext cx="913951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Support Open Science Practices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Foster Innovation in Data Analysis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Encourage Peer Learning and Networking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Encourage Continuous Improvement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Facilitate Open Dialogue on Challenges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Encourage Feedback for Improvement</a:t>
            </a:r>
            <a:endParaRPr sz="4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573409" y="559477"/>
            <a:ext cx="3765200" cy="5709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rPr lang="en-US" sz="4100"/>
              <a:t>CHALLENGES</a:t>
            </a:r>
            <a:endParaRPr sz="4100"/>
          </a:p>
        </p:txBody>
      </p:sp>
      <p:grpSp>
        <p:nvGrpSpPr>
          <p:cNvPr id="110" name="Google Shape;110;p3"/>
          <p:cNvGrpSpPr/>
          <p:nvPr/>
        </p:nvGrpSpPr>
        <p:grpSpPr>
          <a:xfrm>
            <a:off x="5478124" y="866583"/>
            <a:ext cx="5906181" cy="5099445"/>
            <a:chOff x="0" y="65636"/>
            <a:chExt cx="5906181" cy="5099445"/>
          </a:xfrm>
        </p:grpSpPr>
        <p:sp>
          <p:nvSpPr>
            <p:cNvPr id="111" name="Google Shape;111;p3"/>
            <p:cNvSpPr/>
            <p:nvPr/>
          </p:nvSpPr>
          <p:spPr>
            <a:xfrm>
              <a:off x="0" y="65636"/>
              <a:ext cx="5906181" cy="565110"/>
            </a:xfrm>
            <a:prstGeom prst="roundRect">
              <a:avLst>
                <a:gd fmla="val 16667" name="adj"/>
              </a:avLst>
            </a:prstGeom>
            <a:solidFill>
              <a:srgbClr val="E9713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27586" y="93222"/>
              <a:ext cx="5851009" cy="5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Baseline model identification</a:t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0" y="630746"/>
              <a:ext cx="5906181" cy="1237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0" y="630746"/>
              <a:ext cx="5906181" cy="1237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200" lIns="187500" spcFirstLastPara="1" rIns="163575" wrap="square" tIns="292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Current condition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Uncertainty Estimation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Fouling estimation</a:t>
              </a:r>
              <a:endParaRPr/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Distinguish hull from propeller</a:t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0" y="1868606"/>
              <a:ext cx="5906181" cy="565110"/>
            </a:xfrm>
            <a:prstGeom prst="roundRect">
              <a:avLst>
                <a:gd fmla="val 16667" name="adj"/>
              </a:avLst>
            </a:prstGeom>
            <a:solidFill>
              <a:srgbClr val="176B2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27586" y="1896192"/>
              <a:ext cx="5851009" cy="5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Generalization</a:t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0" y="2433716"/>
              <a:ext cx="5906181" cy="9283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0" y="2433716"/>
              <a:ext cx="5906181" cy="9283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200" lIns="187500" spcFirstLastPara="1" rIns="163575" wrap="square" tIns="292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Single ship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Same type of ship (different sizes)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Across Types of Ships</a:t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0" y="3362111"/>
              <a:ext cx="5906181" cy="565110"/>
            </a:xfrm>
            <a:prstGeom prst="roundRect">
              <a:avLst>
                <a:gd fmla="val 16667" name="adj"/>
              </a:avLst>
            </a:prstGeom>
            <a:solidFill>
              <a:srgbClr val="0C9ED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27586" y="3389697"/>
              <a:ext cx="5851009" cy="5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Quality Challenges</a:t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0" y="3927221"/>
              <a:ext cx="5906181" cy="1237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0" y="3927221"/>
              <a:ext cx="5906181" cy="1237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200" lIns="187500" spcFirstLastPara="1" rIns="163575" wrap="square" tIns="292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Noise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gaps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Miscalibration / sensor drifting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Errors in weather</a:t>
              </a:r>
              <a:endParaRPr/>
            </a:p>
          </p:txBody>
        </p:sp>
      </p:grpSp>
      <p:sp>
        <p:nvSpPr>
          <p:cNvPr id="123" name="Google Shape;123;p3"/>
          <p:cNvSpPr/>
          <p:nvPr/>
        </p:nvSpPr>
        <p:spPr>
          <a:xfrm>
            <a:off x="5478124" y="3249038"/>
            <a:ext cx="1710616" cy="340468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" y="2469627"/>
            <a:ext cx="11410950" cy="212570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>
            <p:ph type="title"/>
          </p:nvPr>
        </p:nvSpPr>
        <p:spPr>
          <a:xfrm>
            <a:off x="210671" y="138699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Bulk Carrier “Kanenas”</a:t>
            </a:r>
            <a:endParaRPr/>
          </a:p>
        </p:txBody>
      </p:sp>
      <p:pic>
        <p:nvPicPr>
          <p:cNvPr id="130" name="Google Shape;130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282" y="2469627"/>
            <a:ext cx="3886800" cy="34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2025" y="2469628"/>
            <a:ext cx="4000773" cy="342947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5495365" y="639833"/>
            <a:ext cx="38867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Shared: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2799" y="2345273"/>
            <a:ext cx="3358675" cy="226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4"/>
          <p:cNvPicPr preferRelativeResize="0"/>
          <p:nvPr/>
        </p:nvPicPr>
        <p:blipFill rotWithShape="1">
          <a:blip r:embed="rId7">
            <a:alphaModFix/>
          </a:blip>
          <a:srcRect b="0" l="1271" r="878" t="2153"/>
          <a:stretch/>
        </p:blipFill>
        <p:spPr>
          <a:xfrm>
            <a:off x="2434964" y="1153829"/>
            <a:ext cx="5086207" cy="556547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8442799" y="221304"/>
            <a:ext cx="34264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Anonymized GA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8442799" y="624271"/>
            <a:ext cx="34264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Ship Particulars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8442799" y="1028693"/>
            <a:ext cx="34264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Basic Propeller 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8442799" y="1432752"/>
            <a:ext cx="34264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Curves from Sea Trials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8442799" y="1852527"/>
            <a:ext cx="34264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Ship has PSV installed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>
            <p:ph type="title"/>
          </p:nvPr>
        </p:nvSpPr>
        <p:spPr>
          <a:xfrm>
            <a:off x="103094" y="805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Bulk Carrier “Kanenas”</a:t>
            </a:r>
            <a:endParaRPr/>
          </a:p>
        </p:txBody>
      </p:sp>
      <p:pic>
        <p:nvPicPr>
          <p:cNvPr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8893" y="1003596"/>
            <a:ext cx="6817937" cy="560502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5577862" y="558664"/>
            <a:ext cx="38867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Not Shared: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DATASET</a:t>
            </a:r>
            <a:endParaRPr/>
          </a:p>
        </p:txBody>
      </p:sp>
      <p:sp>
        <p:nvSpPr>
          <p:cNvPr id="152" name="Google Shape;152;p6"/>
          <p:cNvSpPr txBox="1"/>
          <p:nvPr>
            <p:ph idx="1" type="body"/>
          </p:nvPr>
        </p:nvSpPr>
        <p:spPr>
          <a:xfrm>
            <a:off x="289731" y="1354570"/>
            <a:ext cx="367104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TIME SERIES (.csv)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7278253" y="490359"/>
            <a:ext cx="26693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noon Reports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 Events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6835588" y="1215757"/>
            <a:ext cx="451821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4/5 of the dataset will be RAW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signified periods will contain “extra challenges”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5" name="Google Shape;155;p6"/>
          <p:cNvGraphicFramePr/>
          <p:nvPr/>
        </p:nvGraphicFramePr>
        <p:xfrm>
          <a:off x="167871" y="1817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{7C640A5F-3B72-4ABE-8EE0-FE8479D153CE}</a:tableStyleId>
              </a:tblPr>
              <a:tblGrid>
                <a:gridCol w="2892575"/>
                <a:gridCol w="1943950"/>
                <a:gridCol w="777575"/>
              </a:tblGrid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Hull Aft Draft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Alarm Monitoring System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Hull Fore Draft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Alarm Monitoring System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Main Engine Rotational Speed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Alarm Monitoring System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rpm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Hull MidP Draft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Alarm Monitoring System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Hull MidS Draft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Alarm Monitoring System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External Conditions Wind Relative Speed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Anemometer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knots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External Conditions Wind Relative Angle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Anemometer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degrees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Hull Relative To Transducer Water Depth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Echosounder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Hull Over Ground Speed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GPS 1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knots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Hull Heading Turn Rate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Gyrocompass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deg/min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Hull Heading True Angle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Gyrocompass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degrees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Main Engine Turbocharger Rotational Speed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RPM Indicator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rpm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Hull Through Water Longitudinal Speed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Speedlog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knots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6" name="Google Shape;156;p6"/>
          <p:cNvGraphicFramePr/>
          <p:nvPr/>
        </p:nvGraphicFramePr>
        <p:xfrm>
          <a:off x="167870" y="47566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{7C640A5F-3B72-4ABE-8EE0-FE8479D153CE}</a:tableStyleId>
              </a:tblPr>
              <a:tblGrid>
                <a:gridCol w="2892575"/>
                <a:gridCol w="1943950"/>
                <a:gridCol w="777575"/>
              </a:tblGrid>
              <a:tr h="21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Main Engine Fuel Oil Inlet Mass Flow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Torquemeter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kg/hr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Propeller Shaft Mechanical Power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Torquemeter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KW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Propeller Shaft Rotational Speed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Torquemeter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rpm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Propeller Shaft Torque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Torquemeter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N*m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Propeller Shaft Thrust Force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Torquemeter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KN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Propeller Shaft Mechanical Energy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Torquemeter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KWh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Propeller Shaft Revolutions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 Torquemeter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7" name="Google Shape;157;p6"/>
          <p:cNvGraphicFramePr/>
          <p:nvPr/>
        </p:nvGraphicFramePr>
        <p:xfrm>
          <a:off x="6199216" y="28830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{7C640A5F-3B72-4ABE-8EE0-FE8479D153CE}</a:tableStyleId>
              </a:tblPr>
              <a:tblGrid>
                <a:gridCol w="2834650"/>
                <a:gridCol w="1905000"/>
                <a:gridCol w="762000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External Conditions Wave Significant Height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Provider MB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External Conditions Wind True Angle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Provider MB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degrees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External Conditions Swell Significant Height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Provider MB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External Conditions Wind True Speed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Provider MB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knots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External Conditions Wave Significant Height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Provider 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External Conditions Wave True Angle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Provider 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degrees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External Conditions Wave Period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Provider 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sec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External Conditions Sea Water Temperature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Provider 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Â°C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External Conditions Northward Wind Velocity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Provider 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m/s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Vessel External Conditions Eastward Wind Velocity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Provider 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m/s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Main Engine Fuel Load %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Transducer Fuel Load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Main Engine Scavenging Air Pressure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Transducer Pressure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bar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Main Engine Turbocharger Rotational Speed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Transducer RPM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rpm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type="title"/>
          </p:nvPr>
        </p:nvSpPr>
        <p:spPr>
          <a:xfrm>
            <a:off x="309283" y="12307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Results Format</a:t>
            </a:r>
            <a:endParaRPr/>
          </a:p>
        </p:txBody>
      </p:sp>
      <p:sp>
        <p:nvSpPr>
          <p:cNvPr id="163" name="Google Shape;163;p7"/>
          <p:cNvSpPr txBox="1"/>
          <p:nvPr>
            <p:ph idx="1" type="body"/>
          </p:nvPr>
        </p:nvSpPr>
        <p:spPr>
          <a:xfrm>
            <a:off x="475129" y="1335741"/>
            <a:ext cx="7467600" cy="5157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Structured formats </a:t>
            </a:r>
            <a:r>
              <a:rPr lang="en-US" sz="1900"/>
              <a:t>(specific tables or csv files)</a:t>
            </a:r>
            <a:endParaRPr/>
          </a:p>
          <a:p>
            <a:pPr indent="-228600" lvl="0" marL="22860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Baseline Model </a:t>
            </a:r>
            <a:r>
              <a:rPr lang="en-US" sz="1900"/>
              <a:t>(Speed vs Power Curves)</a:t>
            </a:r>
            <a:endParaRPr/>
          </a:p>
          <a:p>
            <a:pPr indent="-228600" lvl="0" marL="22860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Fouling Estimation </a:t>
            </a:r>
            <a:r>
              <a:rPr lang="en-US" sz="1900"/>
              <a:t>(Added Power or Speed Loss)</a:t>
            </a:r>
            <a:endParaRPr/>
          </a:p>
          <a:p>
            <a:pPr indent="-228600" lvl="0" marL="22860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Current condition</a:t>
            </a:r>
            <a:endParaRPr/>
          </a:p>
          <a:p>
            <a:pPr indent="-228600" lvl="0" marL="22860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Quality / Uncertainty Analysis</a:t>
            </a:r>
            <a:endParaRPr/>
          </a:p>
          <a:p>
            <a:pPr indent="-228600" lvl="0" marL="22860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Distinguish Hull from Propeller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7082118" y="1335741"/>
            <a:ext cx="493058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ended 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  <a:p>
            <a:pPr indent="-228600" lvl="0" marL="2286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Discussion</a:t>
            </a:r>
            <a:endParaRPr/>
          </a:p>
          <a:p>
            <a:pPr indent="-228600" lvl="0" marL="2286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quality (overall)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MAIN IDEA</a:t>
            </a:r>
            <a:endParaRPr/>
          </a:p>
        </p:txBody>
      </p:sp>
      <p:sp>
        <p:nvSpPr>
          <p:cNvPr id="170" name="Google Shape;17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Compare results of all participants and all methods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Against each other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Against baseline created from towing tank and CFD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Produce objective evaluations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Propose better methods / evaluation criteria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Evaluation Criteria</a:t>
            </a:r>
            <a:endParaRPr/>
          </a:p>
        </p:txBody>
      </p:sp>
      <p:sp>
        <p:nvSpPr>
          <p:cNvPr id="176" name="Google Shape;176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Accuracy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Trend Keeping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Robustness</a:t>
            </a:r>
            <a:endParaRPr/>
          </a:p>
          <a:p>
            <a:pPr indent="-40639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More details/scoring, will be discussed with participants in open session after summer break.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What’s In it for YOU</a:t>
            </a:r>
            <a:endParaRPr/>
          </a:p>
        </p:txBody>
      </p:sp>
      <p:sp>
        <p:nvSpPr>
          <p:cNvPr id="182" name="Google Shape;182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BRAGGING RIGHTS!!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Participation in shaping the criteria and future challenges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clear benchmark to score and compare methods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Future evolution may lead to curated datasets like in other analytics communities </a:t>
            </a:r>
            <a:r>
              <a:rPr lang="en-US" sz="2000"/>
              <a:t>(which eventually led to the recent AI explosion..)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Key Dates</a:t>
            </a:r>
            <a:endParaRPr/>
          </a:p>
        </p:txBody>
      </p:sp>
      <p:sp>
        <p:nvSpPr>
          <p:cNvPr id="188" name="Google Shape;188;p11"/>
          <p:cNvSpPr txBox="1"/>
          <p:nvPr>
            <p:ph idx="1" type="body"/>
          </p:nvPr>
        </p:nvSpPr>
        <p:spPr>
          <a:xfrm>
            <a:off x="838200" y="1395319"/>
            <a:ext cx="10645588" cy="4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June 2 2025 		Release of Data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July 2025		Participants Forum Launch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August 2025 	Intermediate Participants meeting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December 2025	Submission Deadline for Analyses and Reports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February 2026	Compiling Workshop Results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March 2026 		Workshop Presentation (HullPIC)	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April 2026		Publication of Final Report </a:t>
            </a:r>
            <a:endParaRPr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More Info</a:t>
            </a:r>
            <a:endParaRPr/>
          </a:p>
        </p:txBody>
      </p:sp>
      <p:sp>
        <p:nvSpPr>
          <p:cNvPr id="194" name="Google Shape;194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Website  			</a:t>
            </a:r>
            <a:r>
              <a:rPr b="1" i="0" lang="en-US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shipdatachallenge.com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Discord Channel  	TBA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Linkedin page		TBA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https://forms.gle/kVFsoZoh4WMoWidf6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FUTURE CHALLENGES</a:t>
            </a:r>
            <a:endParaRPr/>
          </a:p>
        </p:txBody>
      </p:sp>
      <p:sp>
        <p:nvSpPr>
          <p:cNvPr id="200" name="Google Shape;200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Generalization (across size and across type)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Mixed quality datasets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ESDs, Wind Assistance, Air Lubrication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Community Input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10+ Let's Discuss Stock Photos, Pictures &amp; Royalty-Free Images - iStock |  Let's talk, Yes, Speech bubble" id="205" name="Google Shape;205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6473" y="397163"/>
            <a:ext cx="6508310" cy="4402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2024-12-19T09:31:47Z</dcterms:created>
  <dc:creator>Vassileios Tsarsitalidis</dc:creator>
</cp:coreProperties>
</file>